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5" roundtripDataSignature="AMtx7miWG15QiNcFbjcR5NN5/V4TkR8Z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518A3A-9F5B-44A7-8B94-9B448A2C13EA}">
  <a:tblStyle styleId="{B8518A3A-9F5B-44A7-8B94-9B448A2C13E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customschemas.google.com/relationships/presentationmetadata" Target="metadata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0"/>
          <p:cNvSpPr txBox="1"/>
          <p:nvPr/>
        </p:nvSpPr>
        <p:spPr>
          <a:xfrm>
            <a:off x="419100" y="205051"/>
            <a:ext cx="6461100" cy="115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rPr>
              <a:t>Universidade Federal do Amazonas</a:t>
            </a:r>
            <a:endParaRPr b="0" i="0" sz="1500" u="none" cap="none" strike="noStrike">
              <a:solidFill>
                <a:srgbClr val="454F5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rPr>
              <a:t>Instituto de Computação</a:t>
            </a:r>
            <a:endParaRPr b="0" i="0" sz="1500" u="none" cap="none" strike="noStrike">
              <a:solidFill>
                <a:srgbClr val="454F5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rPr>
              <a:t>DevTITANS -  Projeto de Desenvolvimento, Tecnologia e Inovação em </a:t>
            </a:r>
            <a:endParaRPr b="0" i="0" sz="1500" u="none" cap="none" strike="noStrike">
              <a:solidFill>
                <a:srgbClr val="454F5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rPr>
              <a:t>      Android e Sistemas Embarcados</a:t>
            </a:r>
            <a:endParaRPr b="0" i="0" sz="1500" u="none" cap="none" strike="noStrike">
              <a:solidFill>
                <a:srgbClr val="454F5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0"/>
          <p:cNvSpPr/>
          <p:nvPr/>
        </p:nvSpPr>
        <p:spPr>
          <a:xfrm>
            <a:off x="4022703" y="1943089"/>
            <a:ext cx="1188600" cy="118800"/>
          </a:xfrm>
          <a:prstGeom prst="rect">
            <a:avLst/>
          </a:prstGeom>
          <a:solidFill>
            <a:srgbClr val="9C7FB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94711" y="4307096"/>
            <a:ext cx="638250" cy="56512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0"/>
          <p:cNvSpPr txBox="1"/>
          <p:nvPr/>
        </p:nvSpPr>
        <p:spPr>
          <a:xfrm>
            <a:off x="5328036" y="4481671"/>
            <a:ext cx="2547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rPr>
              <a:t>Prof. Diogo Soares</a:t>
            </a:r>
            <a:endParaRPr b="0" i="0" sz="1400" u="none" cap="none" strike="noStrike">
              <a:solidFill>
                <a:srgbClr val="454F5B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84D1"/>
                </a:solidFill>
                <a:latin typeface="Arial"/>
                <a:ea typeface="Arial"/>
                <a:cs typeface="Arial"/>
                <a:sym typeface="Arial"/>
              </a:rPr>
              <a:t>diogosoaresm@ufam.edu.br</a:t>
            </a:r>
            <a:endParaRPr b="0" i="0" sz="1400" u="none" cap="none" strike="noStrike">
              <a:solidFill>
                <a:srgbClr val="454F5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10"/>
          <p:cNvSpPr txBox="1"/>
          <p:nvPr/>
        </p:nvSpPr>
        <p:spPr>
          <a:xfrm>
            <a:off x="114300" y="4691075"/>
            <a:ext cx="41007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rPr>
              <a:t>ColabWeb: </a:t>
            </a:r>
            <a:r>
              <a:rPr b="0" i="0" lang="en-US" sz="1400" u="none" cap="none" strike="noStrike">
                <a:solidFill>
                  <a:srgbClr val="0084D1"/>
                </a:solidFill>
                <a:latin typeface="Arial"/>
                <a:ea typeface="Arial"/>
                <a:cs typeface="Arial"/>
                <a:sym typeface="Arial"/>
              </a:rPr>
              <a:t>https://bit.ly/devtitans-shards</a:t>
            </a:r>
            <a:endParaRPr b="0" i="0" sz="1400" u="none" cap="none" strike="noStrike">
              <a:solidFill>
                <a:srgbClr val="454F5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0"/>
          <p:cNvSpPr txBox="1"/>
          <p:nvPr>
            <p:ph type="title"/>
          </p:nvPr>
        </p:nvSpPr>
        <p:spPr>
          <a:xfrm>
            <a:off x="3919538" y="2144725"/>
            <a:ext cx="4778400" cy="19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500"/>
              <a:buNone/>
              <a:defRPr b="1" sz="3500">
                <a:solidFill>
                  <a:srgbClr val="454F5B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000"/>
              <a:buNone/>
              <a:defRPr b="1" sz="3000">
                <a:solidFill>
                  <a:srgbClr val="454F5B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311700" y="1093375"/>
            <a:ext cx="8520600" cy="39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C7FBA"/>
              </a:buClr>
              <a:buSzPts val="2000"/>
              <a:buChar char="▣"/>
              <a:defRPr sz="20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C7FBA"/>
              </a:buClr>
              <a:buSzPts val="1600"/>
              <a:buChar char="▢"/>
              <a:defRPr sz="1600"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9C7FBA"/>
              </a:buClr>
              <a:buSzPts val="1400"/>
              <a:buChar char="○"/>
              <a:defRPr i="1"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7415183" y="482514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454F5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p11"/>
          <p:cNvSpPr/>
          <p:nvPr/>
        </p:nvSpPr>
        <p:spPr>
          <a:xfrm>
            <a:off x="404778" y="814364"/>
            <a:ext cx="1188600" cy="118800"/>
          </a:xfrm>
          <a:prstGeom prst="rect">
            <a:avLst/>
          </a:prstGeom>
          <a:solidFill>
            <a:srgbClr val="9C7FB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4" name="Google Shape;24;p12"/>
          <p:cNvSpPr txBox="1"/>
          <p:nvPr>
            <p:ph idx="12" type="sldNum"/>
          </p:nvPr>
        </p:nvSpPr>
        <p:spPr>
          <a:xfrm>
            <a:off x="7415183" y="474989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1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1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1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1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" name="Google Shape;9;p9"/>
          <p:cNvSpPr/>
          <p:nvPr/>
        </p:nvSpPr>
        <p:spPr>
          <a:xfrm rot="-5400000">
            <a:off x="8105100" y="4100450"/>
            <a:ext cx="925200" cy="1186500"/>
          </a:xfrm>
          <a:prstGeom prst="round1Rect">
            <a:avLst>
              <a:gd fmla="val 3380" name="adj"/>
            </a:avLst>
          </a:prstGeom>
          <a:solidFill>
            <a:srgbClr val="9C7FB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github.com/users/NBO2001/projects/13/views/1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"/>
          <p:cNvSpPr txBox="1"/>
          <p:nvPr>
            <p:ph type="title"/>
          </p:nvPr>
        </p:nvSpPr>
        <p:spPr>
          <a:xfrm>
            <a:off x="3919538" y="2144725"/>
            <a:ext cx="4778400" cy="144030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-US"/>
              <a:t>Hands On:</a:t>
            </a:r>
            <a:br>
              <a:rPr lang="en-US"/>
            </a:br>
            <a:r>
              <a:rPr lang="en-US" sz="5400"/>
              <a:t>InfraDroid</a:t>
            </a:r>
            <a:br>
              <a:rPr lang="en-US" sz="5400"/>
            </a:br>
            <a:r>
              <a:rPr lang="en-US" sz="2400"/>
              <a:t>Equipe 5</a:t>
            </a:r>
            <a:endParaRPr sz="2400"/>
          </a:p>
        </p:txBody>
      </p:sp>
      <p:pic>
        <p:nvPicPr>
          <p:cNvPr id="60" name="Google Shape;6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5584" y="1620434"/>
            <a:ext cx="2484841" cy="2484841"/>
          </a:xfrm>
          <a:prstGeom prst="rect">
            <a:avLst/>
          </a:prstGeom>
          <a:noFill/>
          <a:ln>
            <a:noFill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pic>
      <p:sp>
        <p:nvSpPr>
          <p:cNvPr id="61" name="Google Shape;61;p1"/>
          <p:cNvSpPr/>
          <p:nvPr/>
        </p:nvSpPr>
        <p:spPr>
          <a:xfrm>
            <a:off x="141247" y="4460488"/>
            <a:ext cx="7731513" cy="57986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48525" y="1271425"/>
            <a:ext cx="1292600" cy="1952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2"/>
          <p:cNvPicPr preferRelativeResize="0"/>
          <p:nvPr/>
        </p:nvPicPr>
        <p:blipFill rotWithShape="1">
          <a:blip r:embed="rId4">
            <a:alphaModFix/>
          </a:blip>
          <a:srcRect b="2492" l="2638" r="3119" t="1996"/>
          <a:stretch/>
        </p:blipFill>
        <p:spPr>
          <a:xfrm>
            <a:off x="1809075" y="1272850"/>
            <a:ext cx="1292700" cy="1945939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2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/>
              <a:t>Equipe 5 - Integrantes</a:t>
            </a:r>
            <a:endParaRPr/>
          </a:p>
        </p:txBody>
      </p:sp>
      <p:sp>
        <p:nvSpPr>
          <p:cNvPr id="69" name="Google Shape;69;p2"/>
          <p:cNvSpPr txBox="1"/>
          <p:nvPr>
            <p:ph idx="12" type="sldNum"/>
          </p:nvPr>
        </p:nvSpPr>
        <p:spPr>
          <a:xfrm>
            <a:off x="7348508" y="474990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Tela de celular com foto de homem e texto&#10;&#10;O conteúdo gerado por IA pode estar incorreto." id="70" name="Google Shape;70;p2"/>
          <p:cNvPicPr preferRelativeResize="0"/>
          <p:nvPr/>
        </p:nvPicPr>
        <p:blipFill rotWithShape="1">
          <a:blip r:embed="rId5">
            <a:alphaModFix/>
          </a:blip>
          <a:srcRect b="2701" l="6795" r="3429" t="4154"/>
          <a:stretch/>
        </p:blipFill>
        <p:spPr>
          <a:xfrm>
            <a:off x="5962875" y="1271425"/>
            <a:ext cx="1292620" cy="19343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exto&#10;&#10;O conteúdo gerado por IA pode estar incorreto." id="71" name="Google Shape;71;p2"/>
          <p:cNvPicPr preferRelativeResize="0"/>
          <p:nvPr/>
        </p:nvPicPr>
        <p:blipFill rotWithShape="1">
          <a:blip r:embed="rId6">
            <a:alphaModFix/>
          </a:blip>
          <a:srcRect b="3560" l="7382" r="4944" t="1751"/>
          <a:stretch/>
        </p:blipFill>
        <p:spPr>
          <a:xfrm>
            <a:off x="422917" y="1271425"/>
            <a:ext cx="1270174" cy="19343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terface gráfica do usuário, Texto, Aplicativo&#10;&#10;O conteúdo gerado por IA pode estar incorreto." id="72" name="Google Shape;72;p2"/>
          <p:cNvPicPr preferRelativeResize="0"/>
          <p:nvPr/>
        </p:nvPicPr>
        <p:blipFill rotWithShape="1">
          <a:blip r:embed="rId7">
            <a:alphaModFix/>
          </a:blip>
          <a:srcRect b="3490" l="4958" r="2705" t="2436"/>
          <a:stretch/>
        </p:blipFill>
        <p:spPr>
          <a:xfrm>
            <a:off x="3217724" y="1271425"/>
            <a:ext cx="1292616" cy="19503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terface gráfica do usuário, Texto, Aplicativo&#10;&#10;O conteúdo gerado por IA pode estar incorreto." id="73" name="Google Shape;73;p2"/>
          <p:cNvPicPr preferRelativeResize="0"/>
          <p:nvPr/>
        </p:nvPicPr>
        <p:blipFill rotWithShape="1">
          <a:blip r:embed="rId8">
            <a:alphaModFix/>
          </a:blip>
          <a:srcRect b="2590" l="5726" r="2056" t="1116"/>
          <a:stretch/>
        </p:blipFill>
        <p:spPr>
          <a:xfrm>
            <a:off x="4577341" y="1272850"/>
            <a:ext cx="1292620" cy="1947464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2"/>
          <p:cNvSpPr txBox="1"/>
          <p:nvPr/>
        </p:nvSpPr>
        <p:spPr>
          <a:xfrm>
            <a:off x="5963463" y="3337227"/>
            <a:ext cx="1292700" cy="650700"/>
          </a:xfrm>
          <a:prstGeom prst="rect">
            <a:avLst/>
          </a:prstGeom>
          <a:noFill/>
          <a:ln cap="flat" cmpd="sng" w="9525">
            <a:solidFill>
              <a:srgbClr val="9C7F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900" lIns="85900" spcFirstLastPara="1" rIns="85900" wrap="square" tIns="859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33">
                <a:solidFill>
                  <a:schemeClr val="dk1"/>
                </a:solidFill>
              </a:rPr>
              <a:t>Engenheiro de Hardware e Firmware (ESP32)</a:t>
            </a:r>
            <a:endParaRPr sz="1315"/>
          </a:p>
        </p:txBody>
      </p:sp>
      <p:sp>
        <p:nvSpPr>
          <p:cNvPr id="75" name="Google Shape;75;p2"/>
          <p:cNvSpPr txBox="1"/>
          <p:nvPr/>
        </p:nvSpPr>
        <p:spPr>
          <a:xfrm>
            <a:off x="7348500" y="3337224"/>
            <a:ext cx="1292700" cy="512100"/>
          </a:xfrm>
          <a:prstGeom prst="rect">
            <a:avLst/>
          </a:prstGeom>
          <a:noFill/>
          <a:ln cap="flat" cmpd="sng" w="9525">
            <a:solidFill>
              <a:srgbClr val="9C7F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900" lIns="85900" spcFirstLastPara="1" rIns="85900" wrap="square" tIns="859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Engenheiro de Kernel</a:t>
            </a:r>
            <a:endParaRPr sz="1315"/>
          </a:p>
        </p:txBody>
      </p:sp>
      <p:sp>
        <p:nvSpPr>
          <p:cNvPr id="76" name="Google Shape;76;p2"/>
          <p:cNvSpPr txBox="1"/>
          <p:nvPr/>
        </p:nvSpPr>
        <p:spPr>
          <a:xfrm>
            <a:off x="411689" y="3337225"/>
            <a:ext cx="2690100" cy="342900"/>
          </a:xfrm>
          <a:prstGeom prst="rect">
            <a:avLst/>
          </a:prstGeom>
          <a:noFill/>
          <a:ln cap="flat" cmpd="sng" w="9525">
            <a:solidFill>
              <a:srgbClr val="9C7F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900" lIns="85900" spcFirstLastPara="1" rIns="85900" wrap="square" tIns="859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Engenheiro de HAL (Implementação)</a:t>
            </a:r>
            <a:endParaRPr sz="1315"/>
          </a:p>
        </p:txBody>
      </p:sp>
      <p:sp>
        <p:nvSpPr>
          <p:cNvPr id="77" name="Google Shape;77;p2"/>
          <p:cNvSpPr txBox="1"/>
          <p:nvPr/>
        </p:nvSpPr>
        <p:spPr>
          <a:xfrm>
            <a:off x="4578413" y="3321777"/>
            <a:ext cx="1292700" cy="681600"/>
          </a:xfrm>
          <a:prstGeom prst="rect">
            <a:avLst/>
          </a:prstGeom>
          <a:noFill/>
          <a:ln cap="flat" cmpd="sng" w="9525">
            <a:solidFill>
              <a:srgbClr val="9C7F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900" lIns="85900" spcFirstLastPara="1" rIns="85900" wrap="square" tIns="859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Engenheiro de Framework e Pesquisa</a:t>
            </a:r>
            <a:endParaRPr sz="1315"/>
          </a:p>
        </p:txBody>
      </p:sp>
      <p:sp>
        <p:nvSpPr>
          <p:cNvPr id="78" name="Google Shape;78;p2"/>
          <p:cNvSpPr txBox="1"/>
          <p:nvPr/>
        </p:nvSpPr>
        <p:spPr>
          <a:xfrm>
            <a:off x="3193938" y="3321777"/>
            <a:ext cx="1292700" cy="681600"/>
          </a:xfrm>
          <a:prstGeom prst="rect">
            <a:avLst/>
          </a:prstGeom>
          <a:noFill/>
          <a:ln cap="flat" cmpd="sng" w="9525">
            <a:solidFill>
              <a:srgbClr val="9C7F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900" lIns="85900" spcFirstLastPara="1" rIns="85900" wrap="square" tIns="859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Engenheiro de Aplicação e Integração</a:t>
            </a:r>
            <a:endParaRPr sz="1315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000"/>
              <a:buNone/>
            </a:pPr>
            <a:r>
              <a:rPr lang="en-US"/>
              <a:t>Introdução </a:t>
            </a:r>
            <a:endParaRPr/>
          </a:p>
        </p:txBody>
      </p:sp>
      <p:sp>
        <p:nvSpPr>
          <p:cNvPr id="84" name="Google Shape;84;p3"/>
          <p:cNvSpPr txBox="1"/>
          <p:nvPr>
            <p:ph idx="1" type="body"/>
          </p:nvPr>
        </p:nvSpPr>
        <p:spPr>
          <a:xfrm>
            <a:off x="311700" y="1093375"/>
            <a:ext cx="4732500" cy="31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28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C7FBA"/>
              </a:buClr>
              <a:buSzPts val="2000"/>
              <a:buNone/>
            </a:pPr>
            <a:r>
              <a:rPr lang="en-US"/>
              <a:t>O projeto propõe a integração de um emissor IR (ESP32) ao AOSP. Com o hardware em desenvolvimento, o foco será implementar um driver de Kernel e a HAL ConsumerIr. A meta é permitir o envio de sinais pela API padrão, explorando toda a arquitetura do sistema, desde o firmware até a aplicação de controle.</a:t>
            </a:r>
            <a:endParaRPr/>
          </a:p>
        </p:txBody>
      </p:sp>
      <p:sp>
        <p:nvSpPr>
          <p:cNvPr id="85" name="Google Shape;85;p3"/>
          <p:cNvSpPr txBox="1"/>
          <p:nvPr>
            <p:ph idx="12" type="sldNum"/>
          </p:nvPr>
        </p:nvSpPr>
        <p:spPr>
          <a:xfrm>
            <a:off x="7415183" y="482514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6" name="Google Shape;86;p3" title="Pixe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3474" y="749150"/>
            <a:ext cx="4542689" cy="31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000"/>
              <a:buNone/>
            </a:pPr>
            <a:r>
              <a:rPr lang="en-US"/>
              <a:t>Atividades Planejadas</a:t>
            </a:r>
            <a:endParaRPr/>
          </a:p>
        </p:txBody>
      </p:sp>
      <p:sp>
        <p:nvSpPr>
          <p:cNvPr id="92" name="Google Shape;92;p4"/>
          <p:cNvSpPr txBox="1"/>
          <p:nvPr>
            <p:ph idx="1" type="body"/>
          </p:nvPr>
        </p:nvSpPr>
        <p:spPr>
          <a:xfrm>
            <a:off x="311700" y="1093375"/>
            <a:ext cx="8520600" cy="39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Investigação de Implementações Existentes e Arquitetura</a:t>
            </a:r>
            <a:endParaRPr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Montagem do Circuito e Hardware (ESP32)</a:t>
            </a:r>
            <a:endParaRPr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Desenvolvimento do Firmware e Modulação IR</a:t>
            </a:r>
            <a:endParaRPr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Criação do Driver de Kernel e Interface Sysfs</a:t>
            </a:r>
            <a:endParaRPr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Definição de Políticas de Segurança (SELinux)</a:t>
            </a:r>
            <a:endParaRPr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Implementação da HAL (Interface IConsumerIr)</a:t>
            </a:r>
            <a:endParaRPr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Gerenciamento e Otimização de Buffer</a:t>
            </a:r>
            <a:endParaRPr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Desenvolvimento do Aplicativo de Controle Remoto</a:t>
            </a:r>
            <a:endParaRPr/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❏"/>
            </a:pPr>
            <a:r>
              <a:rPr lang="en-US"/>
              <a:t>Integração no Build do AOSP e Validação Final</a:t>
            </a:r>
            <a:endParaRPr/>
          </a:p>
        </p:txBody>
      </p:sp>
      <p:sp>
        <p:nvSpPr>
          <p:cNvPr id="93" name="Google Shape;93;p4"/>
          <p:cNvSpPr txBox="1"/>
          <p:nvPr>
            <p:ph idx="12" type="sldNum"/>
          </p:nvPr>
        </p:nvSpPr>
        <p:spPr>
          <a:xfrm>
            <a:off x="7415183" y="482514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000"/>
              <a:buNone/>
            </a:pPr>
            <a:r>
              <a:rPr lang="en-US"/>
              <a:t>Cronograma</a:t>
            </a:r>
            <a:endParaRPr/>
          </a:p>
        </p:txBody>
      </p:sp>
      <p:sp>
        <p:nvSpPr>
          <p:cNvPr id="99" name="Google Shape;99;p5"/>
          <p:cNvSpPr txBox="1"/>
          <p:nvPr>
            <p:ph idx="12" type="sldNum"/>
          </p:nvPr>
        </p:nvSpPr>
        <p:spPr>
          <a:xfrm>
            <a:off x="7415183" y="482514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00" name="Google Shape;100;p5"/>
          <p:cNvGraphicFramePr/>
          <p:nvPr/>
        </p:nvGraphicFramePr>
        <p:xfrm>
          <a:off x="376700" y="11011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{B8518A3A-9F5B-44A7-8B94-9B448A2C13EA}</a:tableStyleId>
              </a:tblPr>
              <a:tblGrid>
                <a:gridCol w="2097650"/>
                <a:gridCol w="2097650"/>
                <a:gridCol w="2097650"/>
                <a:gridCol w="20976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chemeClr val="lt1"/>
                          </a:solidFill>
                        </a:rPr>
                        <a:t>Ciclo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C7FB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chemeClr val="lt1"/>
                          </a:solidFill>
                        </a:rPr>
                        <a:t>Data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C7FB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chemeClr val="lt1"/>
                          </a:solidFill>
                        </a:rPr>
                        <a:t>Objetivo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C7FB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chemeClr val="lt1"/>
                          </a:solidFill>
                        </a:rPr>
                        <a:t>Entregas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C7FB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Planejamento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Até 13/01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Definir escopo, arquitetura e organização do projeto.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Rep no github, cronograma no projects e documentação na wiki.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MVP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Até 29/01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Desenvolver e apresentar o MVP do projeto.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MVP funcional de um componente crítico.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3F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Consolidação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Até 12/02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Apresentar o progresso e definir cronograma final.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Progresso implementado e cronograma atualizado.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Entrega Final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24/02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Entrega completa do projeto e exposição final.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Projeto finalizado, documentação completa e devolução dos materiais.</a:t>
                      </a:r>
                      <a:endParaRPr sz="12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000"/>
              <a:buNone/>
            </a:pPr>
            <a:r>
              <a:rPr lang="en-US"/>
              <a:t>Implementação</a:t>
            </a:r>
            <a:endParaRPr/>
          </a:p>
        </p:txBody>
      </p:sp>
      <p:sp>
        <p:nvSpPr>
          <p:cNvPr id="106" name="Google Shape;106;p6"/>
          <p:cNvSpPr txBox="1"/>
          <p:nvPr>
            <p:ph idx="1" type="body"/>
          </p:nvPr>
        </p:nvSpPr>
        <p:spPr>
          <a:xfrm>
            <a:off x="2494925" y="1352075"/>
            <a:ext cx="5914800" cy="27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C7FBA"/>
              </a:buClr>
              <a:buSzPts val="2000"/>
              <a:buNone/>
            </a:pPr>
            <a:r>
              <a:rPr lang="en-US"/>
              <a:t>Optamos por replicar a interface do controle de fita LED para garantir usabilidade imediata e intuitiva. Também estruturaremos um sistema para permitir a inserção manual de novos códigos, assegurando que o aplicativo funcione como um controle universal para diversos dispositivos.</a:t>
            </a:r>
            <a:endParaRPr/>
          </a:p>
        </p:txBody>
      </p:sp>
      <p:sp>
        <p:nvSpPr>
          <p:cNvPr id="107" name="Google Shape;107;p6"/>
          <p:cNvSpPr txBox="1"/>
          <p:nvPr>
            <p:ph idx="12" type="sldNum"/>
          </p:nvPr>
        </p:nvSpPr>
        <p:spPr>
          <a:xfrm>
            <a:off x="7415183" y="482514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08" name="Google Shape;108;p6" title="Android Compact - 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799" y="1093375"/>
            <a:ext cx="1676668" cy="3731775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000"/>
              <a:buNone/>
            </a:pPr>
            <a:r>
              <a:rPr lang="en-US"/>
              <a:t>Progresso Atual</a:t>
            </a:r>
            <a:endParaRPr/>
          </a:p>
        </p:txBody>
      </p:sp>
      <p:sp>
        <p:nvSpPr>
          <p:cNvPr id="114" name="Google Shape;114;p7"/>
          <p:cNvSpPr txBox="1"/>
          <p:nvPr>
            <p:ph idx="12" type="sldNum"/>
          </p:nvPr>
        </p:nvSpPr>
        <p:spPr>
          <a:xfrm>
            <a:off x="7415183" y="482514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5" name="Google Shape;115;p7"/>
          <p:cNvSpPr txBox="1"/>
          <p:nvPr/>
        </p:nvSpPr>
        <p:spPr>
          <a:xfrm>
            <a:off x="517425" y="2022575"/>
            <a:ext cx="72339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u="sng">
                <a:solidFill>
                  <a:schemeClr val="hlink"/>
                </a:solidFill>
                <a:hlinkClick r:id="rId3"/>
              </a:rPr>
              <a:t>https://github.com/users/NBO2001/projects/13/views/1</a:t>
            </a:r>
            <a:endParaRPr sz="2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 txBox="1"/>
          <p:nvPr/>
        </p:nvSpPr>
        <p:spPr>
          <a:xfrm>
            <a:off x="613450" y="1415025"/>
            <a:ext cx="5603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2"/>
                </a:solidFill>
              </a:rPr>
              <a:t>Projeto no Repositório Github:</a:t>
            </a:r>
            <a:endParaRPr sz="2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 txBox="1"/>
          <p:nvPr>
            <p:ph type="title"/>
          </p:nvPr>
        </p:nvSpPr>
        <p:spPr>
          <a:xfrm>
            <a:off x="311700" y="0"/>
            <a:ext cx="8520600" cy="8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4F5B"/>
              </a:buClr>
              <a:buSzPts val="3000"/>
              <a:buNone/>
            </a:pPr>
            <a:r>
              <a:rPr lang="en-US"/>
              <a:t>Agradecimento</a:t>
            </a:r>
            <a:endParaRPr/>
          </a:p>
        </p:txBody>
      </p:sp>
      <p:sp>
        <p:nvSpPr>
          <p:cNvPr id="122" name="Google Shape;122;p8"/>
          <p:cNvSpPr txBox="1"/>
          <p:nvPr>
            <p:ph idx="1" type="body"/>
          </p:nvPr>
        </p:nvSpPr>
        <p:spPr>
          <a:xfrm>
            <a:off x="311700" y="1093375"/>
            <a:ext cx="4582200" cy="33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▣"/>
            </a:pPr>
            <a:r>
              <a:rPr lang="en-US"/>
              <a:t>Agradecemos ao Prof. Eduardo Souto pelas dicas que nos ajudaram a dar o start neste projeto;</a:t>
            </a:r>
            <a:endParaRPr/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▣"/>
            </a:pPr>
            <a:r>
              <a:rPr lang="en-US"/>
              <a:t>À equipe do DevTitans</a:t>
            </a:r>
            <a:endParaRPr/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▣"/>
            </a:pPr>
            <a:r>
              <a:rPr lang="en-US"/>
              <a:t>E</a:t>
            </a:r>
            <a:r>
              <a:rPr lang="en-US"/>
              <a:t>specialmente</a:t>
            </a:r>
            <a:r>
              <a:rPr lang="en-US"/>
              <a:t>, ao Mateus Prestes pelo suporte durante os </a:t>
            </a:r>
            <a:r>
              <a:rPr lang="en-US"/>
              <a:t>laboratórios</a:t>
            </a:r>
            <a:r>
              <a:rPr lang="en-US"/>
              <a:t>.</a:t>
            </a:r>
            <a:endParaRPr/>
          </a:p>
        </p:txBody>
      </p:sp>
      <p:sp>
        <p:nvSpPr>
          <p:cNvPr id="123" name="Google Shape;123;p8"/>
          <p:cNvSpPr txBox="1"/>
          <p:nvPr>
            <p:ph idx="12" type="sldNum"/>
          </p:nvPr>
        </p:nvSpPr>
        <p:spPr>
          <a:xfrm>
            <a:off x="7415183" y="482514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4" name="Google Shape;124;p8"/>
          <p:cNvPicPr preferRelativeResize="0"/>
          <p:nvPr/>
        </p:nvPicPr>
        <p:blipFill rotWithShape="1">
          <a:blip r:embed="rId3">
            <a:alphaModFix/>
          </a:blip>
          <a:srcRect b="0" l="0" r="17088" t="0"/>
          <a:stretch/>
        </p:blipFill>
        <p:spPr>
          <a:xfrm>
            <a:off x="5305500" y="1238600"/>
            <a:ext cx="3304249" cy="22424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